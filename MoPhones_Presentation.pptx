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MoPhones Data Analyst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Credit Portfolio &amp; Customer Experience Analysis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Datasets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Credit Data Snapshots: 5 point-in-time files across 2025</a:t>
            </a:r>
          </a:p>
          <a:p>
            <a:pPr>
              <a:spcAft>
                <a:spcPts val="1600"/>
              </a:spcAft>
              <a:defRPr sz="2000"/>
            </a:pPr>
            <a:r>
              <a:t>Total Records: 71,456 rows (8,935 → 20,742 loans)</a:t>
            </a:r>
          </a:p>
          <a:p>
            <a:pPr>
              <a:spcAft>
                <a:spcPts val="1600"/>
              </a:spcAft>
              <a:defRPr sz="2000"/>
            </a:pPr>
            <a:r>
              <a:t>Unique Loans: 20,742</a:t>
            </a:r>
          </a:p>
          <a:p>
            <a:pPr>
              <a:spcAft>
                <a:spcPts val="1600"/>
              </a:spcAft>
              <a:defRPr sz="2000"/>
            </a:pPr>
            <a:r>
              <a:t>NPS Survey: 4,129 customer responses</a:t>
            </a:r>
          </a:p>
          <a:p>
            <a:pPr>
              <a:spcAft>
                <a:spcPts val="1600"/>
              </a:spcAft>
              <a:defRPr sz="2000"/>
            </a:pPr>
            <a:r>
              <a:t>Demographics: Gender (10,497), DOB (11,217), Income (10,609)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Portfolio Health - PAR30 Rate Trend</a:t>
            </a:r>
          </a:p>
        </p:txBody>
      </p:sp>
      <p:pic>
        <p:nvPicPr>
          <p:cNvPr id="3" name="Picture 2" descr="q1_portfolio_metrics_6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5531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731520"/>
            <a:ext cx="50292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/>
            </a:pPr>
            <a:r>
              <a:rPr dirty="0"/>
              <a:t>• PAR30 Rate stable at ~38% throughout 2025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Peaked at 39% in September before slight improvement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1 in 3 loans is severely delinquent (30+ days past due)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Portfolio risk is controlled but not improving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Loan book grew 132% (8,935 → 20,742) in 12 months</a:t>
            </a:r>
            <a:endParaRPr lang="en-US" dirty="0"/>
          </a:p>
          <a:p>
            <a:pPr>
              <a:spcAft>
                <a:spcPts val="800"/>
              </a:spcAft>
              <a:defRPr sz="1400"/>
            </a:pPr>
            <a:endParaRPr lang="en-US" dirty="0"/>
          </a:p>
          <a:p>
            <a:pPr>
              <a:spcAft>
                <a:spcPts val="800"/>
              </a:spcAft>
              <a:defRPr sz="1400"/>
            </a:pPr>
            <a:r>
              <a:rPr lang="en-US" dirty="0"/>
              <a:t>Risk decreases monotonically with age — the </a:t>
            </a:r>
            <a:r>
              <a:rPr lang="en-US" b="1" dirty="0"/>
              <a:t>46–55 band has a PAR30 of just 22.9%</a:t>
            </a:r>
            <a:r>
              <a:rPr lang="en-US" dirty="0"/>
              <a:t>, nearly 15 percentage points below the youngest cohort.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Portfolio Metrics Dashboard</a:t>
            </a:r>
          </a:p>
        </p:txBody>
      </p:sp>
      <p:pic>
        <p:nvPicPr>
          <p:cNvPr id="3" name="Picture 2" descr="q1_portfolio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5531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731520"/>
            <a:ext cx="50292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/>
            </a:pPr>
            <a:r>
              <a:rPr dirty="0"/>
              <a:t>• DEFAULT RATE declining (11.7% → 9.5%): Better credit screening is working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PAID-OFF RATE growing (14.1% → 25.8%): Healthy portfolio maturation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ARREARS RATE improving (60.7% → 56.9%): Fewer loans entering arrears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AVG DPD increasing (72 → 128 days): Existing delinquents deepening - concern!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TENSION: PAR30 stable but DPD deepens → book is splitting, not curing</a:t>
            </a:r>
            <a:endParaRPr lang="en-US" dirty="0"/>
          </a:p>
          <a:p>
            <a:pPr>
              <a:spcAft>
                <a:spcPts val="800"/>
              </a:spcAft>
              <a:defRPr sz="1400"/>
            </a:pPr>
            <a:endParaRPr lang="en-US" dirty="0"/>
          </a:p>
          <a:p>
            <a:pPr>
              <a:spcAft>
                <a:spcPts val="800"/>
              </a:spcAft>
              <a:defRPr sz="1400"/>
            </a:pPr>
            <a:r>
              <a:rPr lang="en-US" dirty="0"/>
              <a:t>Most customers pay fine, but those who fall behind are falling </a:t>
            </a:r>
            <a:r>
              <a:rPr lang="en-US" i="1" dirty="0"/>
              <a:t>deeper</a:t>
            </a:r>
            <a:r>
              <a:rPr lang="en-US" dirty="0"/>
              <a:t> behind (avg DPD nearly doubled in a year). This calls for an </a:t>
            </a:r>
            <a:r>
              <a:rPr lang="en-US" b="1" dirty="0"/>
              <a:t>early-intervention trigger at DPD 7–14</a:t>
            </a:r>
            <a:r>
              <a:rPr lang="en-US" dirty="0"/>
              <a:t>, especially targeting the 18–25 cohort who show higher default propensity.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NPS Distribution Analysis</a:t>
            </a:r>
          </a:p>
        </p:txBody>
      </p:sp>
      <p:pic>
        <p:nvPicPr>
          <p:cNvPr id="3" name="Picture 2" descr="q2_nps_cr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22717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731520"/>
            <a:ext cx="50292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/>
            </a:pPr>
            <a:r>
              <a:rPr dirty="0"/>
              <a:t>• Mean NPS Score: 6.78 (Moderate)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Net NPS: +5.9 (Industry avg is +30 to +50)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41.3% Promoters (score 9-10)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35.6% Detractors (score 0-6)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Only 17% of portfolio responded - may not be representative</a:t>
            </a:r>
            <a:endParaRPr lang="en-US" dirty="0"/>
          </a:p>
          <a:p>
            <a:pPr>
              <a:spcAft>
                <a:spcPts val="800"/>
              </a:spcAft>
              <a:defRPr sz="1400"/>
            </a:pPr>
            <a:endParaRPr lang="en-US" dirty="0"/>
          </a:p>
          <a:p>
            <a:pPr>
              <a:spcAft>
                <a:spcPts val="800"/>
              </a:spcAft>
              <a:defRPr sz="1400"/>
            </a:pPr>
            <a:r>
              <a:rPr lang="en-US" dirty="0"/>
              <a:t>Among Detractors: </a:t>
            </a:r>
            <a:r>
              <a:rPr lang="en-US" b="1" dirty="0"/>
              <a:t>38.1%</a:t>
            </a:r>
            <a:r>
              <a:rPr lang="en-US" dirty="0"/>
              <a:t> were locked despite paying, </a:t>
            </a:r>
            <a:r>
              <a:rPr lang="en-US" b="1" dirty="0"/>
              <a:t>40.7%</a:t>
            </a:r>
            <a:r>
              <a:rPr lang="en-US" dirty="0"/>
              <a:t> had payment delay issues, </a:t>
            </a:r>
            <a:r>
              <a:rPr lang="en-US" b="1" dirty="0"/>
              <a:t>47.7%</a:t>
            </a:r>
            <a:r>
              <a:rPr lang="en-US" dirty="0"/>
              <a:t> couldn't reach support.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Collections Friction - NPS Impact</a:t>
            </a:r>
          </a:p>
        </p:txBody>
      </p:sp>
      <p:pic>
        <p:nvPicPr>
          <p:cNvPr id="3" name="Picture 2" descr="q2_friction_n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2382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731520"/>
            <a:ext cx="50292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/>
            </a:pPr>
            <a:r>
              <a:rPr dirty="0"/>
              <a:t>• PHONE LOCKED despite payment: -1.37 NPS drop - THIS IS CRITICAL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Difficulty reaching support: -3.09 NPS drop - HIGHEST IMPACT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Payment delay not reflected: -1.24 NPS drop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Support difficulty is the #1 driver of customer dissatisfaction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Phone locking (collections tool) punishes compliant customers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TENSION: Collections effectiveness vs Customer Experience</a:t>
            </a:r>
            <a:endParaRPr lang="en-US" dirty="0"/>
          </a:p>
          <a:p>
            <a:pPr>
              <a:spcAft>
                <a:spcPts val="800"/>
              </a:spcAft>
              <a:defRPr sz="1400"/>
            </a:pPr>
            <a:endParaRPr lang="en-US" dirty="0"/>
          </a:p>
          <a:p>
            <a:pPr>
              <a:spcAft>
                <a:spcPts val="800"/>
              </a:spcAft>
              <a:defRPr sz="1400"/>
            </a:pPr>
            <a:r>
              <a:rPr lang="en-US" sz="1400" dirty="0"/>
              <a:t>Collections effectiveness depends on payment recognition; without accurate, real-time payment posting, the locking mechanism punishes compliant customers.</a:t>
            </a:r>
          </a:p>
          <a:p>
            <a:pPr>
              <a:spcAft>
                <a:spcPts val="800"/>
              </a:spcAft>
              <a:defRPr sz="1400"/>
            </a:pPr>
            <a:endParaRPr lang="en-US" sz="1400" dirty="0"/>
          </a:p>
          <a:p>
            <a:pPr>
              <a:spcAft>
                <a:spcPts val="800"/>
              </a:spcAft>
              <a:defRPr sz="1400"/>
            </a:pPr>
            <a:r>
              <a:rPr lang="en-US" b="1" dirty="0"/>
              <a:t>24-hour payment grace window before locking</a:t>
            </a:r>
            <a:r>
              <a:rPr lang="en-US" dirty="0"/>
              <a:t>, with an automated SMS/app confirmation. Prevents the reconciliation lag from triggering erroneous locks — directly attacking the biggest NPS driver without weakening genuine collections enforcement.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Analysis by Age Band</a:t>
            </a:r>
          </a:p>
        </p:txBody>
      </p:sp>
      <p:pic>
        <p:nvPicPr>
          <p:cNvPr id="3" name="Picture 2" descr="q1_age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21135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731520"/>
            <a:ext cx="502920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/>
            </a:pPr>
            <a:r>
              <a:rPr dirty="0"/>
              <a:t>• 18-25 age band: HIGHEST default rate at 10.8%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46-55 age band: LOWEST default rate at 5.5%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Risk decreases consistently with age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18-25 has nearly 2x risk of 46-55 segment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Portfolio avg PAR30: 38%, but 18-25 at 33.1% (slightly better)</a:t>
            </a:r>
          </a:p>
          <a:p>
            <a:pPr>
              <a:spcAft>
                <a:spcPts val="800"/>
              </a:spcAft>
              <a:defRPr sz="1400"/>
            </a:pPr>
            <a:r>
              <a:rPr dirty="0"/>
              <a:t>• Default rate is the concern for youngest cohort</a:t>
            </a:r>
            <a:endParaRPr lang="en-US" dirty="0"/>
          </a:p>
          <a:p>
            <a:pPr>
              <a:spcAft>
                <a:spcPts val="800"/>
              </a:spcAft>
              <a:defRPr sz="1400"/>
            </a:pPr>
            <a:endParaRPr lang="en-US" dirty="0"/>
          </a:p>
          <a:p>
            <a:pPr>
              <a:spcAft>
                <a:spcPts val="800"/>
              </a:spcAft>
              <a:defRPr sz="1400"/>
            </a:pPr>
            <a:r>
              <a:rPr lang="en-US" sz="1400" dirty="0"/>
              <a:t>Younger borrowers have higher default rates, suggesting income instability or limited credit history. The credit team should apply tighter affordability checks or require higher deposits for 18–25 applicants.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/>
            </a:pPr>
            <a:r>
              <a:rPr dirty="0"/>
              <a:t>Priority 1: Fix Phone Locking Process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  </a:t>
            </a:r>
          </a:p>
          <a:p>
            <a:pPr>
              <a:spcAft>
                <a:spcPts val="800"/>
              </a:spcAft>
              <a:defRPr sz="1800" b="1"/>
            </a:pPr>
            <a:r>
              <a:rPr dirty="0"/>
              <a:t>Priority 2: Tighten Underwriting for 18-25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  </a:t>
            </a:r>
          </a:p>
          <a:p>
            <a:pPr>
              <a:spcAft>
                <a:spcPts val="800"/>
              </a:spcAft>
              <a:defRPr sz="1800" b="1"/>
            </a:pPr>
            <a:r>
              <a:rPr dirty="0"/>
              <a:t>Priority 3: Data Infrastructure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800" b="1"/>
            </a:pPr>
            <a:r>
              <a:rPr lang="en-US" dirty="0"/>
              <a:t>Add a payment events table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800" b="1"/>
            </a:pPr>
            <a:r>
              <a:rPr lang="en-US" dirty="0"/>
              <a:t>Standardize demographic capture for all sale types</a:t>
            </a:r>
          </a:p>
          <a:p>
            <a:pPr marL="285750" indent="-285750">
              <a:spcAft>
                <a:spcPts val="800"/>
              </a:spcAft>
              <a:buFont typeface="Courier New" panose="02070309020205020404" pitchFamily="49" charset="0"/>
              <a:buChar char="o"/>
              <a:defRPr sz="1800" b="1"/>
            </a:pPr>
            <a:r>
              <a:rPr lang="en-US" dirty="0"/>
              <a:t>Implement NPS deduplication rules </a:t>
            </a:r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  </a:t>
            </a:r>
          </a:p>
          <a:p>
            <a:pPr>
              <a:spcAft>
                <a:spcPts val="800"/>
              </a:spcAft>
              <a:defRPr sz="1800" b="1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612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kelvin munene</cp:lastModifiedBy>
  <cp:revision>2</cp:revision>
  <dcterms:created xsi:type="dcterms:W3CDTF">2013-01-27T09:14:16Z</dcterms:created>
  <dcterms:modified xsi:type="dcterms:W3CDTF">2026-04-20T19:37:01Z</dcterms:modified>
  <cp:category/>
</cp:coreProperties>
</file>